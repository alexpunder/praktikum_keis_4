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</p:sldIdLst>
  <p:sldSz cx="8999538" cy="504031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/>
          </p:nvPr>
        </p:nvSpPr>
        <p:spPr>
          <a:xfrm>
            <a:off x="449640" y="1179360"/>
            <a:ext cx="8099280" cy="292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736A74B-28FC-4355-BA3E-8F7FDFB44EEE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449640" y="1179360"/>
            <a:ext cx="8099280" cy="292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4E0E4A-8E33-4D81-98B2-97834C85BED2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E1A7455-D294-4D27-8E56-67B1CFECDCF8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AED9999-8CA3-47D4-BBAD-A463773CBD0F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306915-5217-4289-A8A9-0346F86E8F7D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49640" y="1179360"/>
            <a:ext cx="8099280" cy="292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8862446-5358-47F6-96D9-204215E76974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49640" y="1179360"/>
            <a:ext cx="3952440" cy="292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00080" y="1179360"/>
            <a:ext cx="3952440" cy="292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A83409C4-2ED8-4E6F-961C-F324BA589A63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5F5D176-3D9B-411E-AC4A-364679D976CD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DF07CFF-61C2-487F-AF3D-3C2928D5C787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00F63835-F2AA-44BD-A72F-DE5CDCD919D3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DFB1075-9218-4023-B055-F77DCD26A0AD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504DB24-5864-4520-B62F-271E2B384F82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49640" y="1179360"/>
            <a:ext cx="8098920" cy="292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1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715EDE-0DB4-41F9-80C4-6721AA9F076D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EE5F48-D08A-4581-8382-224761ADD186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49640" y="1179360"/>
            <a:ext cx="8099280" cy="292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Num" idx="3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5BE8FE-ECEF-40DA-BD89-14095EB992D0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Num" idx="4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EAB745-86D6-4192-909D-54449EB979F9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Num" idx="5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AAB64C-5E23-4767-9A7B-38F5DD7AE796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49640" y="1179360"/>
            <a:ext cx="8098920" cy="292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sldNum" idx="6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0233B6-A67A-46F1-B9E0-316D685C5840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49640" y="1179360"/>
            <a:ext cx="3952080" cy="292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600080" y="1179360"/>
            <a:ext cx="3952080" cy="2922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7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5FA3F0-C041-4B3C-A206-E8A34EDD2E1F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306720" y="729720"/>
            <a:ext cx="8384400" cy="200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8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69FD34-B910-4498-8623-8B4A9B3794AF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sldNum" idx="9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C2AFD4-C139-464B-8D47-A6F546B5FE6B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Num" idx="10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560B16-CC3A-4BAA-B83C-64BADEA2C181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6;p37"/>
          <p:cNvSpPr/>
          <p:nvPr/>
        </p:nvSpPr>
        <p:spPr>
          <a:xfrm>
            <a:off x="4500000" y="0"/>
            <a:ext cx="4497840" cy="50378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sldNum" idx="11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38E3AD-9764-41B7-AD5F-FD1C4205D227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sldNum" idx="12"/>
          </p:nvPr>
        </p:nvSpPr>
        <p:spPr>
          <a:xfrm>
            <a:off x="8339040" y="4569480"/>
            <a:ext cx="53784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10692F-E55A-48AE-B003-DE5D989F3889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54;p1"/>
          <p:cNvSpPr/>
          <p:nvPr/>
        </p:nvSpPr>
        <p:spPr>
          <a:xfrm>
            <a:off x="360" y="360"/>
            <a:ext cx="8997840" cy="5037840"/>
          </a:xfrm>
          <a:prstGeom prst="rect">
            <a:avLst/>
          </a:prstGeom>
          <a:solidFill>
            <a:srgbClr val="123194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" name="Google Shape;56;p1" descr=""/>
          <p:cNvPicPr/>
          <p:nvPr/>
        </p:nvPicPr>
        <p:blipFill>
          <a:blip r:embed="rId1"/>
          <a:stretch/>
        </p:blipFill>
        <p:spPr>
          <a:xfrm>
            <a:off x="7729560" y="156240"/>
            <a:ext cx="845640" cy="413280"/>
          </a:xfrm>
          <a:prstGeom prst="rect">
            <a:avLst/>
          </a:prstGeom>
          <a:ln w="0">
            <a:noFill/>
          </a:ln>
        </p:spPr>
      </p:pic>
      <p:pic>
        <p:nvPicPr>
          <p:cNvPr id="35" name="Google Shape;58;p1" descr=""/>
          <p:cNvPicPr/>
          <p:nvPr/>
        </p:nvPicPr>
        <p:blipFill>
          <a:blip r:embed="rId2"/>
          <a:stretch/>
        </p:blipFill>
        <p:spPr>
          <a:xfrm>
            <a:off x="5145840" y="1620000"/>
            <a:ext cx="5050080" cy="8315280"/>
          </a:xfrm>
          <a:prstGeom prst="rect">
            <a:avLst/>
          </a:prstGeom>
          <a:ln w="0">
            <a:noFill/>
          </a:ln>
        </p:spPr>
      </p:pic>
      <p:sp>
        <p:nvSpPr>
          <p:cNvPr id="36" name="Google Shape;85;p 2"/>
          <p:cNvSpPr/>
          <p:nvPr/>
        </p:nvSpPr>
        <p:spPr>
          <a:xfrm>
            <a:off x="360000" y="1980000"/>
            <a:ext cx="8086680" cy="28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Значительная доля клиентов генерирует убытки из-за частых возвратов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Низкая маржинальность покупок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Снижение общего показателя LTV (Lifetime Value)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Искажение прогнозов финансового роста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Google Shape;84;p 2"/>
          <p:cNvSpPr/>
          <p:nvPr/>
        </p:nvSpPr>
        <p:spPr>
          <a:xfrm>
            <a:off x="340920" y="384480"/>
            <a:ext cx="82458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chemeClr val="lt1"/>
                </a:solidFill>
                <a:latin typeface="Montserrat"/>
                <a:ea typeface="Montserrat"/>
              </a:rPr>
              <a:t>Кейс 4. Предсказание прибыльности пользователя на основе истории покупок и возвратов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540000" y="2007000"/>
            <a:ext cx="1970640" cy="33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Проблемы в основе: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54;p 1"/>
          <p:cNvSpPr/>
          <p:nvPr/>
        </p:nvSpPr>
        <p:spPr>
          <a:xfrm>
            <a:off x="360" y="0"/>
            <a:ext cx="8997840" cy="5037840"/>
          </a:xfrm>
          <a:prstGeom prst="rect">
            <a:avLst/>
          </a:prstGeom>
          <a:solidFill>
            <a:srgbClr val="123194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Google Shape;55;p 1"/>
          <p:cNvSpPr/>
          <p:nvPr/>
        </p:nvSpPr>
        <p:spPr>
          <a:xfrm>
            <a:off x="540000" y="1440000"/>
            <a:ext cx="7153920" cy="355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1600" spc="-1" strike="noStrike">
                <a:solidFill>
                  <a:schemeClr val="lt1"/>
                </a:solidFill>
                <a:latin typeface="Montserrat"/>
                <a:ea typeface="Montserrat"/>
              </a:rPr>
              <a:t>Литвинов Александр – первичный анализ и очистка данных, формирование итоговых ноутбуков, презентации и дашборда, работа с гипотезой №1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1600" spc="-1" strike="noStrike">
                <a:solidFill>
                  <a:schemeClr val="lt1"/>
                </a:solidFill>
                <a:latin typeface="Montserrat"/>
                <a:ea typeface="Montserrat"/>
              </a:rPr>
              <a:t>Налбандян Лев - первичный анализ и очистка данных, работа с гипотезой №3, визуализация и часть дашборда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1600" spc="-1" strike="noStrike">
                <a:solidFill>
                  <a:schemeClr val="lt1"/>
                </a:solidFill>
                <a:latin typeface="Montserrat"/>
                <a:ea typeface="Montserrat"/>
              </a:rPr>
              <a:t>Наголюк Анастасия - первичный анализ и очистка данных, работа с гипотезой №2, визуализация и часть дашборда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" sz="1600" spc="-1" strike="noStrike">
                <a:solidFill>
                  <a:schemeClr val="lt1"/>
                </a:solidFill>
                <a:latin typeface="Montserrat"/>
                <a:ea typeface="Montserrat"/>
              </a:rPr>
              <a:t>Ли Кали - первичный анализ и очистка данных, работа с гипотезой №4, визуализация и часть дашборда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" name="Google Shape;56;p 1" descr=""/>
          <p:cNvPicPr/>
          <p:nvPr/>
        </p:nvPicPr>
        <p:blipFill>
          <a:blip r:embed="rId1"/>
          <a:stretch/>
        </p:blipFill>
        <p:spPr>
          <a:xfrm>
            <a:off x="7729560" y="156240"/>
            <a:ext cx="845640" cy="413280"/>
          </a:xfrm>
          <a:prstGeom prst="rect">
            <a:avLst/>
          </a:prstGeom>
          <a:ln w="0">
            <a:noFill/>
          </a:ln>
        </p:spPr>
      </p:pic>
      <p:sp>
        <p:nvSpPr>
          <p:cNvPr id="42" name="Google Shape;57;p 1"/>
          <p:cNvSpPr/>
          <p:nvPr/>
        </p:nvSpPr>
        <p:spPr>
          <a:xfrm>
            <a:off x="337680" y="357840"/>
            <a:ext cx="7345080" cy="11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chemeClr val="lt1"/>
                </a:solidFill>
                <a:latin typeface="Montserrat"/>
                <a:ea typeface="Montserrat"/>
              </a:rPr>
              <a:t>Над проектом Практикума работала  команда №23 в следующем составе: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82;p 2"/>
          <p:cNvSpPr/>
          <p:nvPr/>
        </p:nvSpPr>
        <p:spPr>
          <a:xfrm>
            <a:off x="12960" y="-9720"/>
            <a:ext cx="8997840" cy="5037840"/>
          </a:xfrm>
          <a:prstGeom prst="rect">
            <a:avLst/>
          </a:prstGeom>
          <a:solidFill>
            <a:srgbClr val="123194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4" name="Google Shape;83;p 2" descr=""/>
          <p:cNvPicPr/>
          <p:nvPr/>
        </p:nvPicPr>
        <p:blipFill>
          <a:blip r:embed="rId1"/>
          <a:stretch/>
        </p:blipFill>
        <p:spPr>
          <a:xfrm>
            <a:off x="388800" y="4493160"/>
            <a:ext cx="845640" cy="413280"/>
          </a:xfrm>
          <a:prstGeom prst="rect">
            <a:avLst/>
          </a:prstGeom>
          <a:ln w="0">
            <a:noFill/>
          </a:ln>
        </p:spPr>
      </p:pic>
      <p:sp>
        <p:nvSpPr>
          <p:cNvPr id="45" name="Google Shape;84;p 3"/>
          <p:cNvSpPr/>
          <p:nvPr/>
        </p:nvSpPr>
        <p:spPr>
          <a:xfrm>
            <a:off x="340920" y="384480"/>
            <a:ext cx="82458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chemeClr val="lt1"/>
                </a:solidFill>
                <a:latin typeface="Montserrat"/>
                <a:ea typeface="Montserrat"/>
              </a:rPr>
              <a:t>Первичный анализ и EDA.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Google Shape;85;p 3"/>
          <p:cNvSpPr/>
          <p:nvPr/>
        </p:nvSpPr>
        <p:spPr>
          <a:xfrm>
            <a:off x="360000" y="1154880"/>
            <a:ext cx="7558200" cy="34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Предоставленные данные о транзакциях клиентов имеют аномальные значения, отсутствующие поля, логические противоречия бизнес-логике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Даты выглядят наиболее некорректными: есть сумма покупок, но нет даты первой покупки; дата регистрации позже первого логина; дата первого логина позже первой покупки; дата регистрации позже первой покупки – это порядка 40% от общего объема всех данных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Большинство пользователей использует 6 или менее платформ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75% суммарных покупок – менее 200 у.е.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15000"/>
              </a:lnSpc>
              <a:spcBef>
                <a:spcPts val="1800"/>
              </a:spcBef>
              <a:spcAft>
                <a:spcPts val="1800"/>
              </a:spcAft>
              <a:tabLst>
                <a:tab algn="l" pos="0"/>
              </a:tabLst>
            </a:pP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Google Shape;120;p 1" descr=""/>
          <p:cNvPicPr/>
          <p:nvPr/>
        </p:nvPicPr>
        <p:blipFill>
          <a:blip r:embed="rId2"/>
          <a:stretch/>
        </p:blipFill>
        <p:spPr>
          <a:xfrm>
            <a:off x="7020000" y="2839320"/>
            <a:ext cx="1797120" cy="2188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82;p 1"/>
          <p:cNvSpPr/>
          <p:nvPr/>
        </p:nvSpPr>
        <p:spPr>
          <a:xfrm>
            <a:off x="12960" y="-9720"/>
            <a:ext cx="8997840" cy="5037840"/>
          </a:xfrm>
          <a:prstGeom prst="rect">
            <a:avLst/>
          </a:prstGeom>
          <a:solidFill>
            <a:srgbClr val="123194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9" name="Google Shape;83;p 1" descr=""/>
          <p:cNvPicPr/>
          <p:nvPr/>
        </p:nvPicPr>
        <p:blipFill>
          <a:blip r:embed="rId1"/>
          <a:stretch/>
        </p:blipFill>
        <p:spPr>
          <a:xfrm>
            <a:off x="388800" y="4493160"/>
            <a:ext cx="845640" cy="413280"/>
          </a:xfrm>
          <a:prstGeom prst="rect">
            <a:avLst/>
          </a:prstGeom>
          <a:ln w="0">
            <a:noFill/>
          </a:ln>
        </p:spPr>
      </p:pic>
      <p:sp>
        <p:nvSpPr>
          <p:cNvPr id="50" name="Google Shape;84;p 1"/>
          <p:cNvSpPr/>
          <p:nvPr/>
        </p:nvSpPr>
        <p:spPr>
          <a:xfrm>
            <a:off x="340920" y="384480"/>
            <a:ext cx="82458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chemeClr val="lt1"/>
                </a:solidFill>
                <a:latin typeface="Montserrat"/>
                <a:ea typeface="Montserrat"/>
              </a:rPr>
              <a:t>Гипотеза 1.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Google Shape;85;p 1"/>
          <p:cNvSpPr/>
          <p:nvPr/>
        </p:nvSpPr>
        <p:spPr>
          <a:xfrm>
            <a:off x="360000" y="1154880"/>
            <a:ext cx="7558200" cy="34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Средний показатель будущих возвратов у группы с низким текущим отношением возвратов к покупкам меньше, чем у клиентов в высоким показателем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Для проверки гипотезы использовался двухвыборочный t-критерий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При уровне значимости 5% обнаружена статистически значимая разница между группами (p-value = 3e-5, t-stat = -4.01).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Клиенты с высокой долей возвратов в прошлом в среднем имеют более высокий риск возврата в будущем по сравнению с клиентами с низкой долей возвратов.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15000"/>
              </a:lnSpc>
              <a:spcBef>
                <a:spcPts val="1800"/>
              </a:spcBef>
              <a:spcAft>
                <a:spcPts val="1800"/>
              </a:spcAft>
              <a:tabLst>
                <a:tab algn="l" pos="0"/>
              </a:tabLst>
            </a:pP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" name="Google Shape;125;p 1" descr=""/>
          <p:cNvPicPr/>
          <p:nvPr/>
        </p:nvPicPr>
        <p:blipFill>
          <a:blip r:embed="rId2"/>
          <a:stretch/>
        </p:blipFill>
        <p:spPr>
          <a:xfrm>
            <a:off x="7981200" y="2520000"/>
            <a:ext cx="948240" cy="2484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69;p9"/>
          <p:cNvSpPr/>
          <p:nvPr/>
        </p:nvSpPr>
        <p:spPr>
          <a:xfrm>
            <a:off x="459360" y="1317600"/>
            <a:ext cx="6389280" cy="3148920"/>
          </a:xfrm>
          <a:prstGeom prst="rect">
            <a:avLst/>
          </a:prstGeom>
          <a:solidFill>
            <a:schemeClr val="lt2"/>
          </a:solidFill>
          <a:ln w="9525">
            <a:solidFill>
              <a:srgbClr val="12319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Google Shape;70;p9"/>
          <p:cNvSpPr/>
          <p:nvPr/>
        </p:nvSpPr>
        <p:spPr>
          <a:xfrm>
            <a:off x="349560" y="4500000"/>
            <a:ext cx="828864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ru" sz="1300" spc="-1" strike="noStrike">
                <a:solidFill>
                  <a:schemeClr val="dk1"/>
                </a:solidFill>
                <a:latin typeface="Montserrat"/>
                <a:ea typeface="Montserrat"/>
              </a:rPr>
              <a:t>Гипотеза 1. Сравнение средних значений по группам в зависимости от текущего отношения возвратов к покупкам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Google Shape;71;p9"/>
          <p:cNvSpPr/>
          <p:nvPr/>
        </p:nvSpPr>
        <p:spPr>
          <a:xfrm>
            <a:off x="368640" y="285120"/>
            <a:ext cx="82458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rgbClr val="123194"/>
                </a:solidFill>
                <a:latin typeface="Montserrat"/>
                <a:ea typeface="Montserrat"/>
              </a:rPr>
              <a:t>Заголовок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180000" y="360000"/>
            <a:ext cx="8819280" cy="4111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82;p 6"/>
          <p:cNvSpPr/>
          <p:nvPr/>
        </p:nvSpPr>
        <p:spPr>
          <a:xfrm>
            <a:off x="12960" y="-9720"/>
            <a:ext cx="8997840" cy="5037840"/>
          </a:xfrm>
          <a:prstGeom prst="rect">
            <a:avLst/>
          </a:prstGeom>
          <a:solidFill>
            <a:srgbClr val="123194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8" name="Google Shape;83;p 4" descr=""/>
          <p:cNvPicPr/>
          <p:nvPr/>
        </p:nvPicPr>
        <p:blipFill>
          <a:blip r:embed="rId1"/>
          <a:stretch/>
        </p:blipFill>
        <p:spPr>
          <a:xfrm>
            <a:off x="388800" y="4493160"/>
            <a:ext cx="845640" cy="413280"/>
          </a:xfrm>
          <a:prstGeom prst="rect">
            <a:avLst/>
          </a:prstGeom>
          <a:ln w="0">
            <a:noFill/>
          </a:ln>
        </p:spPr>
      </p:pic>
      <p:sp>
        <p:nvSpPr>
          <p:cNvPr id="59" name="Google Shape;84;p 4"/>
          <p:cNvSpPr/>
          <p:nvPr/>
        </p:nvSpPr>
        <p:spPr>
          <a:xfrm>
            <a:off x="340920" y="384480"/>
            <a:ext cx="82458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chemeClr val="lt1"/>
                </a:solidFill>
                <a:latin typeface="Montserrat"/>
                <a:ea typeface="Montserrat"/>
              </a:rPr>
              <a:t>Гипотеза 2.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85;p 4"/>
          <p:cNvSpPr/>
          <p:nvPr/>
        </p:nvSpPr>
        <p:spPr>
          <a:xfrm>
            <a:off x="360000" y="1154880"/>
            <a:ext cx="7558200" cy="34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Клиенты, совершившие покупку в течение первой недели с момента регистрации, более заинтересованы в товаре и характеризуются меньшим значением target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Для проверки гипотезы использовался двухвыборочный t-критерий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При уровне значимости 5% не обнаружена статистически значимая разница между группами (p-value =  0.44, t-stat = -0.15)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Согласно результатам проведенного статистического теста, нельзя утверждать, что существует взаимосвязь между показателями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15000"/>
              </a:lnSpc>
              <a:spcBef>
                <a:spcPts val="1800"/>
              </a:spcBef>
              <a:spcAft>
                <a:spcPts val="1800"/>
              </a:spcAft>
              <a:tabLst>
                <a:tab algn="l" pos="0"/>
              </a:tabLst>
            </a:pP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Google Shape;125;p 2" descr=""/>
          <p:cNvPicPr/>
          <p:nvPr/>
        </p:nvPicPr>
        <p:blipFill>
          <a:blip r:embed="rId2"/>
          <a:stretch/>
        </p:blipFill>
        <p:spPr>
          <a:xfrm>
            <a:off x="7981200" y="2520000"/>
            <a:ext cx="948240" cy="2484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9;p 1"/>
          <p:cNvSpPr/>
          <p:nvPr/>
        </p:nvSpPr>
        <p:spPr>
          <a:xfrm>
            <a:off x="459360" y="1317600"/>
            <a:ext cx="6389280" cy="3148920"/>
          </a:xfrm>
          <a:prstGeom prst="rect">
            <a:avLst/>
          </a:prstGeom>
          <a:solidFill>
            <a:schemeClr val="lt2"/>
          </a:solidFill>
          <a:ln w="9525">
            <a:solidFill>
              <a:srgbClr val="12319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Google Shape;70;p 1"/>
          <p:cNvSpPr/>
          <p:nvPr/>
        </p:nvSpPr>
        <p:spPr>
          <a:xfrm>
            <a:off x="349560" y="4467240"/>
            <a:ext cx="8288640" cy="45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ru" sz="1300" spc="-1" strike="noStrike">
                <a:solidFill>
                  <a:schemeClr val="dk1"/>
                </a:solidFill>
                <a:latin typeface="Montserrat"/>
                <a:ea typeface="Montserrat"/>
              </a:rPr>
              <a:t>Гипотеза 2. Сравнение средних значений по группам в зависимости от интервала, между первой покупкой и регистрацией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Google Shape;71;p 1"/>
          <p:cNvSpPr/>
          <p:nvPr/>
        </p:nvSpPr>
        <p:spPr>
          <a:xfrm>
            <a:off x="368640" y="285120"/>
            <a:ext cx="82458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rgbClr val="123194"/>
                </a:solidFill>
                <a:latin typeface="Montserrat"/>
                <a:ea typeface="Montserrat"/>
              </a:rPr>
              <a:t>Заголовок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" name="" descr=""/>
          <p:cNvPicPr/>
          <p:nvPr/>
        </p:nvPicPr>
        <p:blipFill>
          <a:blip r:embed="rId1"/>
          <a:stretch/>
        </p:blipFill>
        <p:spPr>
          <a:xfrm>
            <a:off x="180000" y="360000"/>
            <a:ext cx="8638200" cy="4219560"/>
          </a:xfrm>
          <a:prstGeom prst="rect">
            <a:avLst/>
          </a:prstGeom>
          <a:ln w="0">
            <a:noFill/>
          </a:ln>
        </p:spPr>
      </p:pic>
      <p:pic>
        <p:nvPicPr>
          <p:cNvPr id="66" name="" descr=""/>
          <p:cNvPicPr/>
          <p:nvPr/>
        </p:nvPicPr>
        <p:blipFill>
          <a:blip r:embed="rId2"/>
          <a:stretch/>
        </p:blipFill>
        <p:spPr>
          <a:xfrm>
            <a:off x="180000" y="99720"/>
            <a:ext cx="8681040" cy="4399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82;p 3"/>
          <p:cNvSpPr/>
          <p:nvPr/>
        </p:nvSpPr>
        <p:spPr>
          <a:xfrm>
            <a:off x="12960" y="-9720"/>
            <a:ext cx="8997840" cy="5037840"/>
          </a:xfrm>
          <a:prstGeom prst="rect">
            <a:avLst/>
          </a:prstGeom>
          <a:solidFill>
            <a:srgbClr val="123194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8" name="Google Shape;83;p 3" descr=""/>
          <p:cNvPicPr/>
          <p:nvPr/>
        </p:nvPicPr>
        <p:blipFill>
          <a:blip r:embed="rId1"/>
          <a:stretch/>
        </p:blipFill>
        <p:spPr>
          <a:xfrm>
            <a:off x="388800" y="4493160"/>
            <a:ext cx="845640" cy="413280"/>
          </a:xfrm>
          <a:prstGeom prst="rect">
            <a:avLst/>
          </a:prstGeom>
          <a:ln w="0">
            <a:noFill/>
          </a:ln>
        </p:spPr>
      </p:pic>
      <p:sp>
        <p:nvSpPr>
          <p:cNvPr id="69" name="Google Shape;84;p 5"/>
          <p:cNvSpPr/>
          <p:nvPr/>
        </p:nvSpPr>
        <p:spPr>
          <a:xfrm>
            <a:off x="340920" y="384480"/>
            <a:ext cx="82458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chemeClr val="lt1"/>
                </a:solidFill>
                <a:latin typeface="Montserrat"/>
                <a:ea typeface="Montserrat"/>
              </a:rPr>
              <a:t>Гипотеза 3.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Google Shape;85;p 5"/>
          <p:cNvSpPr/>
          <p:nvPr/>
        </p:nvSpPr>
        <p:spPr>
          <a:xfrm>
            <a:off x="360000" y="1154880"/>
            <a:ext cx="7558200" cy="34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Средний показатель будущих возвратов у группы клиентов, использующих меньшее количество устройств для входа - меньше, чем у клиентов использующих большее количество устройств для входа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Для проверки гипотезы использовался тест «H-критерий Краскела — Уоллиса»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При уровне значимости 5% обнаружена статистически значимая разница между группами (p-value =  2.28e-58, h-stat = -4.01)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Клиенты, использующии большее количество устройст для входа, в среднем имеет более высокий уровень возвратов, чем клиенты использующии небольшое количество устрой на аккаунт. 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15000"/>
              </a:lnSpc>
              <a:spcBef>
                <a:spcPts val="1800"/>
              </a:spcBef>
              <a:spcAft>
                <a:spcPts val="1800"/>
              </a:spcAft>
              <a:tabLst>
                <a:tab algn="l" pos="0"/>
              </a:tabLst>
            </a:pP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" name="Google Shape;125;p 3" descr=""/>
          <p:cNvPicPr/>
          <p:nvPr/>
        </p:nvPicPr>
        <p:blipFill>
          <a:blip r:embed="rId2"/>
          <a:stretch/>
        </p:blipFill>
        <p:spPr>
          <a:xfrm>
            <a:off x="7981200" y="2520000"/>
            <a:ext cx="948240" cy="2484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914400" y="194760"/>
            <a:ext cx="7504200" cy="458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82;p 5"/>
          <p:cNvSpPr/>
          <p:nvPr/>
        </p:nvSpPr>
        <p:spPr>
          <a:xfrm>
            <a:off x="0" y="2520"/>
            <a:ext cx="8997840" cy="5037840"/>
          </a:xfrm>
          <a:prstGeom prst="rect">
            <a:avLst/>
          </a:prstGeom>
          <a:solidFill>
            <a:srgbClr val="123194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4" name="Google Shape;83;p 6" descr=""/>
          <p:cNvPicPr/>
          <p:nvPr/>
        </p:nvPicPr>
        <p:blipFill>
          <a:blip r:embed="rId1"/>
          <a:stretch/>
        </p:blipFill>
        <p:spPr>
          <a:xfrm>
            <a:off x="388800" y="4493160"/>
            <a:ext cx="845640" cy="413280"/>
          </a:xfrm>
          <a:prstGeom prst="rect">
            <a:avLst/>
          </a:prstGeom>
          <a:ln w="0">
            <a:noFill/>
          </a:ln>
        </p:spPr>
      </p:pic>
      <p:sp>
        <p:nvSpPr>
          <p:cNvPr id="75" name="Google Shape;84;p 7"/>
          <p:cNvSpPr/>
          <p:nvPr/>
        </p:nvSpPr>
        <p:spPr>
          <a:xfrm>
            <a:off x="340920" y="384480"/>
            <a:ext cx="8245800" cy="7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2800" spc="-1" strike="noStrike">
                <a:solidFill>
                  <a:schemeClr val="lt1"/>
                </a:solidFill>
                <a:latin typeface="Montserrat"/>
                <a:ea typeface="Montserrat"/>
              </a:rPr>
              <a:t>Выводы по результатам исследования.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Google Shape;85;p 7"/>
          <p:cNvSpPr/>
          <p:nvPr/>
        </p:nvSpPr>
        <p:spPr>
          <a:xfrm>
            <a:off x="360000" y="1154880"/>
            <a:ext cx="7558200" cy="34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Клиентам с высокой долей возвратов не стоит рекомендовать или предлагать дорогие товары, так как с большей вероятностью они их вернут.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На возвраты клиентов не влияет интервал между покупкой и регистрацией – возможно, не стоит планировать маркетинговые стратегии основываясь на этих данных.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Montserrat"/>
              <a:buChar char="■"/>
            </a:pPr>
            <a:r>
              <a:rPr b="0" lang="ru" sz="1400" spc="-1" strike="noStrike">
                <a:solidFill>
                  <a:schemeClr val="lt1"/>
                </a:solidFill>
                <a:latin typeface="Montserrat"/>
                <a:ea typeface="Montserrat"/>
              </a:rPr>
              <a:t>Стоит обратить внимание на пользователей, использующих много устройств на одном аккаунте – возможна подозрительная активность или несогласованность действий различных пользователей (например, семейный аккаунт общего пользования).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15000"/>
              </a:lnSpc>
              <a:spcBef>
                <a:spcPts val="1800"/>
              </a:spcBef>
              <a:spcAft>
                <a:spcPts val="1800"/>
              </a:spcAft>
              <a:tabLst>
                <a:tab algn="l" pos="0"/>
              </a:tabLst>
            </a:pP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" name="Google Shape;125;p 5" descr=""/>
          <p:cNvPicPr/>
          <p:nvPr/>
        </p:nvPicPr>
        <p:blipFill>
          <a:blip r:embed="rId2"/>
          <a:stretch/>
        </p:blipFill>
        <p:spPr>
          <a:xfrm>
            <a:off x="7920000" y="2520000"/>
            <a:ext cx="948240" cy="2484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141;p28"/>
          <p:cNvSpPr/>
          <p:nvPr/>
        </p:nvSpPr>
        <p:spPr>
          <a:xfrm>
            <a:off x="0" y="0"/>
            <a:ext cx="8997840" cy="5037840"/>
          </a:xfrm>
          <a:prstGeom prst="rect">
            <a:avLst/>
          </a:prstGeom>
          <a:solidFill>
            <a:srgbClr val="123194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9" name="Google Shape;142;p28" descr=""/>
          <p:cNvPicPr/>
          <p:nvPr/>
        </p:nvPicPr>
        <p:blipFill>
          <a:blip r:embed="rId1"/>
          <a:stretch/>
        </p:blipFill>
        <p:spPr>
          <a:xfrm>
            <a:off x="419400" y="4491360"/>
            <a:ext cx="845640" cy="413280"/>
          </a:xfrm>
          <a:prstGeom prst="rect">
            <a:avLst/>
          </a:prstGeom>
          <a:ln w="0">
            <a:noFill/>
          </a:ln>
        </p:spPr>
      </p:pic>
      <p:sp>
        <p:nvSpPr>
          <p:cNvPr id="80" name="Google Shape;143;p28"/>
          <p:cNvSpPr/>
          <p:nvPr/>
        </p:nvSpPr>
        <p:spPr>
          <a:xfrm>
            <a:off x="348840" y="633240"/>
            <a:ext cx="7345080" cy="11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ru" sz="4000" spc="-1" strike="noStrike">
                <a:solidFill>
                  <a:schemeClr val="lt1"/>
                </a:solidFill>
                <a:latin typeface="Montserrat"/>
                <a:ea typeface="Montserrat"/>
              </a:rPr>
              <a:t>Спасибо </a:t>
            </a:r>
            <a:br>
              <a:rPr sz="4000"/>
            </a:br>
            <a:r>
              <a:rPr b="1" lang="ru" sz="4000" spc="-1" strike="noStrike">
                <a:solidFill>
                  <a:schemeClr val="lt1"/>
                </a:solidFill>
                <a:latin typeface="Montserrat"/>
                <a:ea typeface="Montserrat"/>
              </a:rPr>
              <a:t>за внимание!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Google Shape;144;p28" descr=""/>
          <p:cNvPicPr/>
          <p:nvPr/>
        </p:nvPicPr>
        <p:blipFill>
          <a:blip r:embed="rId2"/>
          <a:stretch/>
        </p:blipFill>
        <p:spPr>
          <a:xfrm>
            <a:off x="5458320" y="956880"/>
            <a:ext cx="4436640" cy="4131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2025-12-21T21:24:32Z</dcterms:modified>
  <cp:revision>18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