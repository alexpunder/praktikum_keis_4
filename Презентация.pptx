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8999538" cy="50403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449640" y="1179360"/>
            <a:ext cx="809928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68E4CF7-392B-4C2A-B682-72B4996526E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49640" y="1179360"/>
            <a:ext cx="809928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4CC0F8-3A09-4E39-A2B2-68BF6944CAD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BAEEAC-5B05-421E-8F1B-0293DBAD150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25C93E-37CB-4343-AE18-11477CBD6F0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3E0DD98-3111-484F-BF85-EBA452447B3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49640" y="1179360"/>
            <a:ext cx="809928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48E386-30FB-4772-AEDC-A9ED6F8E9D0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49640" y="1179360"/>
            <a:ext cx="395244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00080" y="1179360"/>
            <a:ext cx="395244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8EB3280-160C-455F-A5FB-557B035E2BB7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DA9ADDA-3922-47C5-89FA-58B4F2D5386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56F26EF-BD20-4BA5-8F4A-189C98B4241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09213D4-E2CC-45A1-A2E7-A65AF6C6578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B897A91-578B-4956-9E0E-B3DA1F1BF79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C1F5F97-1A1E-4333-9BA1-AB7A1078BEE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49640" y="1179360"/>
            <a:ext cx="8098920" cy="292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EA49E9-AD42-4A80-B836-D64D4C47F47B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3F31D8-170B-4A2B-828E-685496BCD87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49640" y="1179360"/>
            <a:ext cx="8099280" cy="29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3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20C240-0141-4D6F-9BCE-C7EF44D8A9D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Num" idx="4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7D6B63-C082-47DA-AE74-99A87A4407BE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Num" idx="5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865F9D-72CB-4DC0-AFD0-C0F6188E7895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49640" y="1179360"/>
            <a:ext cx="8098920" cy="292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6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765441-98B2-4A93-B4A0-B1C436E40427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49640" y="1179360"/>
            <a:ext cx="3952080" cy="292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00080" y="1179360"/>
            <a:ext cx="3952080" cy="292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7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FC9027-E083-4414-94C1-EE638BFD59AD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06720" y="729720"/>
            <a:ext cx="8384760" cy="200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8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0E0F64-5CA6-4EB4-9E62-5FCB4292B3DF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9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A027C5-40BD-4543-AA1F-356582408B15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10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56B6FB-84B8-4CFD-9009-75300375BA0A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37"/>
          <p:cNvSpPr/>
          <p:nvPr/>
        </p:nvSpPr>
        <p:spPr>
          <a:xfrm>
            <a:off x="4500000" y="0"/>
            <a:ext cx="4498200" cy="5038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sldNum" idx="11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513CA2-1B9B-447A-9307-44F09CA23B5E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Num" idx="12"/>
          </p:nvPr>
        </p:nvSpPr>
        <p:spPr>
          <a:xfrm>
            <a:off x="8339040" y="4569480"/>
            <a:ext cx="53820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9FD842-2293-4B98-AEC2-96F9A62FF213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4;p1"/>
          <p:cNvSpPr/>
          <p:nvPr/>
        </p:nvSpPr>
        <p:spPr>
          <a:xfrm>
            <a:off x="360" y="36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Google Shape;56;p1" descr=""/>
          <p:cNvPicPr/>
          <p:nvPr/>
        </p:nvPicPr>
        <p:blipFill>
          <a:blip r:embed="rId1"/>
          <a:stretch/>
        </p:blipFill>
        <p:spPr>
          <a:xfrm>
            <a:off x="7729560" y="156240"/>
            <a:ext cx="846000" cy="413640"/>
          </a:xfrm>
          <a:prstGeom prst="rect">
            <a:avLst/>
          </a:prstGeom>
          <a:ln w="0">
            <a:noFill/>
          </a:ln>
        </p:spPr>
      </p:pic>
      <p:pic>
        <p:nvPicPr>
          <p:cNvPr id="35" name="Google Shape;58;p1" descr=""/>
          <p:cNvPicPr/>
          <p:nvPr/>
        </p:nvPicPr>
        <p:blipFill>
          <a:blip r:embed="rId2"/>
          <a:stretch/>
        </p:blipFill>
        <p:spPr>
          <a:xfrm>
            <a:off x="5145840" y="1620000"/>
            <a:ext cx="5050440" cy="831564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85;p 2"/>
          <p:cNvSpPr/>
          <p:nvPr/>
        </p:nvSpPr>
        <p:spPr>
          <a:xfrm>
            <a:off x="360000" y="1980000"/>
            <a:ext cx="8087040" cy="28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Значительная доля клиентов генерирует убытки из-за частых возвратов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Низкая маржинальность покупок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Снижение общего показателя LTV (Lifetime Value)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Искажение прогнозов финансового роста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84;p 2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Кейс 4. Предсказание прибыльности пользователя на основе истории покупок и возвратов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40000" y="2007000"/>
            <a:ext cx="19710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Проблемы в основе: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54;p 1"/>
          <p:cNvSpPr/>
          <p:nvPr/>
        </p:nvSpPr>
        <p:spPr>
          <a:xfrm>
            <a:off x="360" y="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Google Shape;55;p 1"/>
          <p:cNvSpPr/>
          <p:nvPr/>
        </p:nvSpPr>
        <p:spPr>
          <a:xfrm>
            <a:off x="540000" y="1440000"/>
            <a:ext cx="7154280" cy="35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Литвинов Александр – первичный анализ и очистка данных, формирование итоговых ноутбуков, презентации и дашборда, работа с гипотезой №1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Налбандян Лев - первичный анализ и очистка данных, работа с гипотезой №3, визуализация и часть дашборда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Наголюк Анастасия - первичный анализ и очистка данных, работа с гипотезой №2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, визуализация и часть дашборда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Ли Кали - первичный анализ и очистка данных, работа с гипотезой №4</a:t>
            </a:r>
            <a:r>
              <a:rPr b="0" lang="ru" sz="1600" spc="-1" strike="noStrike">
                <a:solidFill>
                  <a:schemeClr val="lt1"/>
                </a:solidFill>
                <a:latin typeface="Montserrat"/>
                <a:ea typeface="Montserrat"/>
              </a:rPr>
              <a:t>, визуализация и часть дашборда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oogle Shape;56;p 1" descr=""/>
          <p:cNvPicPr/>
          <p:nvPr/>
        </p:nvPicPr>
        <p:blipFill>
          <a:blip r:embed="rId1"/>
          <a:stretch/>
        </p:blipFill>
        <p:spPr>
          <a:xfrm>
            <a:off x="7729560" y="15624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57;p 1"/>
          <p:cNvSpPr/>
          <p:nvPr/>
        </p:nvSpPr>
        <p:spPr>
          <a:xfrm>
            <a:off x="337680" y="357840"/>
            <a:ext cx="7345440" cy="11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Над проектом Практикума работала  команда №23 в следующем составе: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82;p 2"/>
          <p:cNvSpPr/>
          <p:nvPr/>
        </p:nvSpPr>
        <p:spPr>
          <a:xfrm>
            <a:off x="12960" y="-972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Google Shape;83;p 2" descr=""/>
          <p:cNvPicPr/>
          <p:nvPr/>
        </p:nvPicPr>
        <p:blipFill>
          <a:blip r:embed="rId1"/>
          <a:stretch/>
        </p:blipFill>
        <p:spPr>
          <a:xfrm>
            <a:off x="388800" y="44931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84;p 3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Первичный анализ и EDA.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85;p 3"/>
          <p:cNvSpPr/>
          <p:nvPr/>
        </p:nvSpPr>
        <p:spPr>
          <a:xfrm>
            <a:off x="360000" y="1154880"/>
            <a:ext cx="7558560" cy="34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Предоставленные данные о транзакциях клиентов имеют аномальные значения, отсутствующие поля, логические противоречия бизнес-логике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Даты выглядят наиболее некорректными: есть сумма покупок, но нет даты первой покупки; дата регистрации позже первого логина; дата первого логина позже первой покупки; дата регистрации позже первой покупки – это порядка 40% от общего объема всех данных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Большинство пользователей использует 6 или менее платформ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75% суммарных покупок – менее 200 у.е.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Google Shape;120;p 1" descr=""/>
          <p:cNvPicPr/>
          <p:nvPr/>
        </p:nvPicPr>
        <p:blipFill>
          <a:blip r:embed="rId2"/>
          <a:stretch/>
        </p:blipFill>
        <p:spPr>
          <a:xfrm>
            <a:off x="7020000" y="2839320"/>
            <a:ext cx="1797480" cy="218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2;p 1"/>
          <p:cNvSpPr/>
          <p:nvPr/>
        </p:nvSpPr>
        <p:spPr>
          <a:xfrm>
            <a:off x="12960" y="-972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Google Shape;83;p 1" descr=""/>
          <p:cNvPicPr/>
          <p:nvPr/>
        </p:nvPicPr>
        <p:blipFill>
          <a:blip r:embed="rId1"/>
          <a:stretch/>
        </p:blipFill>
        <p:spPr>
          <a:xfrm>
            <a:off x="388800" y="44931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4;p 1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Гипотеза 1.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5;p 1"/>
          <p:cNvSpPr/>
          <p:nvPr/>
        </p:nvSpPr>
        <p:spPr>
          <a:xfrm>
            <a:off x="360000" y="1154880"/>
            <a:ext cx="7558560" cy="34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Средний показатель будущих возвратов у группы с низким текущим отношением возвратов к покупкам меньше, чем у клиентов в высоким показателем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Для проверки гипотезы использовался двухвыборочный t-критерий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При уровне значимости 5% обнаружена статистически значимая разница между группами (p-value = 3e-5, t-stat = -4.01).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Клиенты с высокой долей возвратов в прошлом в среднем имеют более высокий риск возврата в будущем по сравнению с клиентами с низкой долей возвратов.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Google Shape;125;p 1" descr=""/>
          <p:cNvPicPr/>
          <p:nvPr/>
        </p:nvPicPr>
        <p:blipFill>
          <a:blip r:embed="rId2"/>
          <a:stretch/>
        </p:blipFill>
        <p:spPr>
          <a:xfrm>
            <a:off x="7981200" y="2520000"/>
            <a:ext cx="948600" cy="248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69;p9"/>
          <p:cNvSpPr/>
          <p:nvPr/>
        </p:nvSpPr>
        <p:spPr>
          <a:xfrm>
            <a:off x="459360" y="1317600"/>
            <a:ext cx="6389640" cy="3149280"/>
          </a:xfrm>
          <a:prstGeom prst="rect">
            <a:avLst/>
          </a:prstGeom>
          <a:solidFill>
            <a:schemeClr val="lt2"/>
          </a:solidFill>
          <a:ln w="9525">
            <a:solidFill>
              <a:srgbClr val="1231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70;p9"/>
          <p:cNvSpPr/>
          <p:nvPr/>
        </p:nvSpPr>
        <p:spPr>
          <a:xfrm>
            <a:off x="349560" y="4500000"/>
            <a:ext cx="82890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" sz="1300" spc="-1" strike="noStrike">
                <a:solidFill>
                  <a:schemeClr val="dk1"/>
                </a:solidFill>
                <a:latin typeface="Montserrat"/>
                <a:ea typeface="Montserrat"/>
              </a:rPr>
              <a:t>Гипотеза 1. Сравнение средних значений по группам в зависимости от текущего отношения возвратов к покупкам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1;p9"/>
          <p:cNvSpPr/>
          <p:nvPr/>
        </p:nvSpPr>
        <p:spPr>
          <a:xfrm>
            <a:off x="368640" y="28512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rgbClr val="123194"/>
                </a:solidFill>
                <a:latin typeface="Montserrat"/>
                <a:ea typeface="Montserrat"/>
              </a:rPr>
              <a:t>Заголовок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80000" y="360000"/>
            <a:ext cx="8819640" cy="411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82;p 6"/>
          <p:cNvSpPr/>
          <p:nvPr/>
        </p:nvSpPr>
        <p:spPr>
          <a:xfrm>
            <a:off x="12960" y="-972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Google Shape;83;p 4" descr=""/>
          <p:cNvPicPr/>
          <p:nvPr/>
        </p:nvPicPr>
        <p:blipFill>
          <a:blip r:embed="rId1"/>
          <a:stretch/>
        </p:blipFill>
        <p:spPr>
          <a:xfrm>
            <a:off x="388800" y="44931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59" name="Google Shape;84;p 4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Гипотеза 2.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5;p 4"/>
          <p:cNvSpPr/>
          <p:nvPr/>
        </p:nvSpPr>
        <p:spPr>
          <a:xfrm>
            <a:off x="360000" y="1154880"/>
            <a:ext cx="7558560" cy="34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Средний показатель будущих возвратов у группы клиентов, использующих меньшее количество устройств для входа - меньше, чем у клиентов использующих большее количество устройств для входа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Для проверки гипотезы использовался тест «H-критерий Краскела — Уоллиса»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При уровне значимости 5% обнаружена статистически значимая разница между группами (p-value =  2.28e-58, h-stat = -4.01)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Клиенты, использующии большее количество устройст для входа, в среднем имеет более высокий уровень возвратов, чем клиенты использующии небольшое количество устрой на аккаунт.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Google Shape;125;p 2" descr=""/>
          <p:cNvPicPr/>
          <p:nvPr/>
        </p:nvPicPr>
        <p:blipFill>
          <a:blip r:embed="rId2"/>
          <a:stretch/>
        </p:blipFill>
        <p:spPr>
          <a:xfrm>
            <a:off x="7981200" y="2520000"/>
            <a:ext cx="948600" cy="248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9;p 1"/>
          <p:cNvSpPr/>
          <p:nvPr/>
        </p:nvSpPr>
        <p:spPr>
          <a:xfrm>
            <a:off x="459360" y="1317600"/>
            <a:ext cx="6389640" cy="3149280"/>
          </a:xfrm>
          <a:prstGeom prst="rect">
            <a:avLst/>
          </a:prstGeom>
          <a:solidFill>
            <a:schemeClr val="lt2"/>
          </a:solidFill>
          <a:ln w="9525">
            <a:solidFill>
              <a:srgbClr val="1231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oogle Shape;70;p 1"/>
          <p:cNvSpPr/>
          <p:nvPr/>
        </p:nvSpPr>
        <p:spPr>
          <a:xfrm>
            <a:off x="349560" y="4467240"/>
            <a:ext cx="8289000" cy="4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" sz="1300" spc="-1" strike="noStrike">
                <a:solidFill>
                  <a:schemeClr val="dk1"/>
                </a:solidFill>
                <a:latin typeface="Montserrat"/>
                <a:ea typeface="Montserrat"/>
              </a:rPr>
              <a:t>Гипотеза 2. Сравнение средних значений по группам в зависимости от интервала, между первой покупкой и регистрацией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71;p 1"/>
          <p:cNvSpPr/>
          <p:nvPr/>
        </p:nvSpPr>
        <p:spPr>
          <a:xfrm>
            <a:off x="368640" y="28512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rgbClr val="123194"/>
                </a:solidFill>
                <a:latin typeface="Montserrat"/>
                <a:ea typeface="Montserrat"/>
              </a:rPr>
              <a:t>Заголовок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80000" y="360000"/>
            <a:ext cx="8638560" cy="421992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180000" y="99720"/>
            <a:ext cx="8681400" cy="439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82;p 3"/>
          <p:cNvSpPr/>
          <p:nvPr/>
        </p:nvSpPr>
        <p:spPr>
          <a:xfrm>
            <a:off x="12960" y="-972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Google Shape;83;p 3" descr=""/>
          <p:cNvPicPr/>
          <p:nvPr/>
        </p:nvPicPr>
        <p:blipFill>
          <a:blip r:embed="rId1"/>
          <a:stretch/>
        </p:blipFill>
        <p:spPr>
          <a:xfrm>
            <a:off x="388800" y="44931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84;p 5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Гипотеза 3.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85;p 5"/>
          <p:cNvSpPr/>
          <p:nvPr/>
        </p:nvSpPr>
        <p:spPr>
          <a:xfrm>
            <a:off x="360000" y="1154880"/>
            <a:ext cx="7558560" cy="34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Средний показатель будущих возвратов у группы клиентов, использующих меньшее количество устройств для входа - меньше, чем у клиентов использующих большее количество устройств для входа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Для проверки гипотезы использовался тест «H-критерий Краскела — Уоллиса»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При уровне значимости 5% обнаружена статистически значимая разница между группами (p-value =  2.28e-58, h-stat = -4.01)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Клиенты, использующии большее количество устройст для входа, в среднем имеет более высокий уровень возвратов, чем клиенты использующии небольшое количество устрой на аккаунт.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Google Shape;125;p 3" descr=""/>
          <p:cNvPicPr/>
          <p:nvPr/>
        </p:nvPicPr>
        <p:blipFill>
          <a:blip r:embed="rId2"/>
          <a:stretch/>
        </p:blipFill>
        <p:spPr>
          <a:xfrm>
            <a:off x="7981200" y="2520000"/>
            <a:ext cx="948600" cy="248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914400" y="194760"/>
            <a:ext cx="7504560" cy="459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82;p 4"/>
          <p:cNvSpPr/>
          <p:nvPr/>
        </p:nvSpPr>
        <p:spPr>
          <a:xfrm>
            <a:off x="12960" y="-972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Google Shape;83;p 5" descr=""/>
          <p:cNvPicPr/>
          <p:nvPr/>
        </p:nvPicPr>
        <p:blipFill>
          <a:blip r:embed="rId1"/>
          <a:stretch/>
        </p:blipFill>
        <p:spPr>
          <a:xfrm>
            <a:off x="388800" y="44931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84;p 6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Гипотеза 4.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85;p 6"/>
          <p:cNvSpPr/>
          <p:nvPr/>
        </p:nvSpPr>
        <p:spPr>
          <a:xfrm>
            <a:off x="360000" y="1154880"/>
            <a:ext cx="7558560" cy="34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Средний показатель будущих возвратов у группы клиентов, использующих меньшее количество устройств для входа - меньше, чем у клиентов использующих большее количество устройств для входа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Для проверки гипотезы использовался тест «H-критерий Краскела — Уоллиса»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При уровне значимости 5% обнаружена статистически значимая разница между группами (p-value =  2.28e-58, h-stat = -4.01)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Клиенты, использующии большее количество устройст для входа, в среднем имеет более высокий уровень возвратов, чем клиенты использующии небольшое количество устрой на аккаунт.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125;p 4" descr=""/>
          <p:cNvPicPr/>
          <p:nvPr/>
        </p:nvPicPr>
        <p:blipFill>
          <a:blip r:embed="rId2"/>
          <a:stretch/>
        </p:blipFill>
        <p:spPr>
          <a:xfrm>
            <a:off x="7981200" y="2520000"/>
            <a:ext cx="948600" cy="248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914400" y="194760"/>
            <a:ext cx="7504560" cy="459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82;p 5"/>
          <p:cNvSpPr/>
          <p:nvPr/>
        </p:nvSpPr>
        <p:spPr>
          <a:xfrm>
            <a:off x="12960" y="-972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" name="Google Shape;83;p 6" descr=""/>
          <p:cNvPicPr/>
          <p:nvPr/>
        </p:nvPicPr>
        <p:blipFill>
          <a:blip r:embed="rId1"/>
          <a:stretch/>
        </p:blipFill>
        <p:spPr>
          <a:xfrm>
            <a:off x="388800" y="44931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81" name="Google Shape;84;p 7"/>
          <p:cNvSpPr/>
          <p:nvPr/>
        </p:nvSpPr>
        <p:spPr>
          <a:xfrm>
            <a:off x="340920" y="384480"/>
            <a:ext cx="824616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2800" spc="-1" strike="noStrike">
                <a:solidFill>
                  <a:schemeClr val="lt1"/>
                </a:solidFill>
                <a:latin typeface="Montserrat"/>
                <a:ea typeface="Montserrat"/>
              </a:rPr>
              <a:t>Выводы по результатам исследования.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85;p 7"/>
          <p:cNvSpPr/>
          <p:nvPr/>
        </p:nvSpPr>
        <p:spPr>
          <a:xfrm>
            <a:off x="360000" y="1154880"/>
            <a:ext cx="7558560" cy="34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Первый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Второй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Третий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Montserrat"/>
              <a:buChar char="■"/>
            </a:pPr>
            <a:r>
              <a:rPr b="0" lang="ru" sz="1400" spc="-1" strike="noStrike">
                <a:solidFill>
                  <a:schemeClr val="lt1"/>
                </a:solidFill>
                <a:latin typeface="Montserrat"/>
                <a:ea typeface="Montserrat"/>
              </a:rPr>
              <a:t>Четвертый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Google Shape;125;p 5" descr=""/>
          <p:cNvPicPr/>
          <p:nvPr/>
        </p:nvPicPr>
        <p:blipFill>
          <a:blip r:embed="rId2"/>
          <a:stretch/>
        </p:blipFill>
        <p:spPr>
          <a:xfrm>
            <a:off x="7981200" y="2520000"/>
            <a:ext cx="948600" cy="248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1;p28"/>
          <p:cNvSpPr/>
          <p:nvPr/>
        </p:nvSpPr>
        <p:spPr>
          <a:xfrm>
            <a:off x="0" y="0"/>
            <a:ext cx="8998200" cy="5038200"/>
          </a:xfrm>
          <a:prstGeom prst="rect">
            <a:avLst/>
          </a:prstGeom>
          <a:solidFill>
            <a:srgbClr val="123194"/>
          </a:solidFill>
          <a:ln w="9525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Google Shape;142;p28" descr=""/>
          <p:cNvPicPr/>
          <p:nvPr/>
        </p:nvPicPr>
        <p:blipFill>
          <a:blip r:embed="rId1"/>
          <a:stretch/>
        </p:blipFill>
        <p:spPr>
          <a:xfrm>
            <a:off x="419400" y="4491360"/>
            <a:ext cx="846000" cy="41364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143;p28"/>
          <p:cNvSpPr/>
          <p:nvPr/>
        </p:nvSpPr>
        <p:spPr>
          <a:xfrm>
            <a:off x="348840" y="633240"/>
            <a:ext cx="7345440" cy="11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" sz="4000" spc="-1" strike="noStrike">
                <a:solidFill>
                  <a:schemeClr val="lt1"/>
                </a:solidFill>
                <a:latin typeface="Montserrat"/>
                <a:ea typeface="Montserrat"/>
              </a:rPr>
              <a:t>Спасибо </a:t>
            </a:r>
            <a:br>
              <a:rPr sz="4000"/>
            </a:br>
            <a:r>
              <a:rPr b="1" lang="ru" sz="4000" spc="-1" strike="noStrike">
                <a:solidFill>
                  <a:schemeClr val="lt1"/>
                </a:solidFill>
                <a:latin typeface="Montserrat"/>
                <a:ea typeface="Montserrat"/>
              </a:rPr>
              <a:t>за внимание!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144;p28" descr=""/>
          <p:cNvPicPr/>
          <p:nvPr/>
        </p:nvPicPr>
        <p:blipFill>
          <a:blip r:embed="rId2"/>
          <a:stretch/>
        </p:blipFill>
        <p:spPr>
          <a:xfrm>
            <a:off x="5458320" y="956880"/>
            <a:ext cx="4437000" cy="413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2025-12-21T16:25:07Z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